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78" r:id="rId11"/>
    <p:sldId id="266" r:id="rId12"/>
    <p:sldId id="294" r:id="rId13"/>
    <p:sldId id="280" r:id="rId14"/>
    <p:sldId id="296" r:id="rId15"/>
    <p:sldId id="270" r:id="rId16"/>
    <p:sldId id="295" r:id="rId1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2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77FD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A7780-C1DA-4349-8359-78AB0007C710}" v="1" dt="2026-06-01T13:56:47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2937" autoAdjust="0"/>
  </p:normalViewPr>
  <p:slideViewPr>
    <p:cSldViewPr snapToGrid="0">
      <p:cViewPr>
        <p:scale>
          <a:sx n="76" d="100"/>
          <a:sy n="76" d="100"/>
        </p:scale>
        <p:origin x="778" y="58"/>
      </p:cViewPr>
      <p:guideLst>
        <p:guide orient="horz" pos="3362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Joji" userId="5ee500b96c2de4b0" providerId="LiveId" clId="{6C4B0894-A23A-47DD-9A4A-62AA2A482939}"/>
    <pc:docChg chg="custSel modSld">
      <pc:chgData name="Roshan Joji" userId="5ee500b96c2de4b0" providerId="LiveId" clId="{6C4B0894-A23A-47DD-9A4A-62AA2A482939}" dt="2026-06-01T13:58:14.251" v="106" actId="20577"/>
      <pc:docMkLst>
        <pc:docMk/>
      </pc:docMkLst>
      <pc:sldChg chg="modSp mod modNotesTx">
        <pc:chgData name="Roshan Joji" userId="5ee500b96c2de4b0" providerId="LiveId" clId="{6C4B0894-A23A-47DD-9A4A-62AA2A482939}" dt="2026-06-01T13:46:32.213" v="28" actId="20577"/>
        <pc:sldMkLst>
          <pc:docMk/>
          <pc:sldMk cId="1642425379" sldId="256"/>
        </pc:sldMkLst>
        <pc:spChg chg="mod">
          <ac:chgData name="Roshan Joji" userId="5ee500b96c2de4b0" providerId="LiveId" clId="{6C4B0894-A23A-47DD-9A4A-62AA2A482939}" dt="2026-06-01T13:46:32.213" v="28" actId="20577"/>
          <ac:spMkLst>
            <pc:docMk/>
            <pc:sldMk cId="1642425379" sldId="256"/>
            <ac:spMk id="3" creationId="{1901B20D-4C28-4DA3-ABBD-718C22A5E58B}"/>
          </ac:spMkLst>
        </pc:spChg>
      </pc:sldChg>
      <pc:sldChg chg="modNotesTx">
        <pc:chgData name="Roshan Joji" userId="5ee500b96c2de4b0" providerId="LiveId" clId="{6C4B0894-A23A-47DD-9A4A-62AA2A482939}" dt="2026-06-01T13:45:33.979" v="5" actId="5793"/>
        <pc:sldMkLst>
          <pc:docMk/>
          <pc:sldMk cId="1738561688" sldId="261"/>
        </pc:sldMkLst>
      </pc:sldChg>
      <pc:sldChg chg="modNotesTx">
        <pc:chgData name="Roshan Joji" userId="5ee500b96c2de4b0" providerId="LiveId" clId="{6C4B0894-A23A-47DD-9A4A-62AA2A482939}" dt="2026-06-01T13:45:37.180" v="6" actId="20577"/>
        <pc:sldMkLst>
          <pc:docMk/>
          <pc:sldMk cId="1593920805" sldId="262"/>
        </pc:sldMkLst>
      </pc:sldChg>
      <pc:sldChg chg="modNotesTx">
        <pc:chgData name="Roshan Joji" userId="5ee500b96c2de4b0" providerId="LiveId" clId="{6C4B0894-A23A-47DD-9A4A-62AA2A482939}" dt="2026-06-01T13:45:45.075" v="10" actId="5793"/>
        <pc:sldMkLst>
          <pc:docMk/>
          <pc:sldMk cId="1346372204" sldId="264"/>
        </pc:sldMkLst>
      </pc:sldChg>
      <pc:sldChg chg="modNotesTx">
        <pc:chgData name="Roshan Joji" userId="5ee500b96c2de4b0" providerId="LiveId" clId="{6C4B0894-A23A-47DD-9A4A-62AA2A482939}" dt="2026-06-01T13:45:51.389" v="13" actId="5793"/>
        <pc:sldMkLst>
          <pc:docMk/>
          <pc:sldMk cId="2121178069" sldId="266"/>
        </pc:sldMkLst>
      </pc:sldChg>
      <pc:sldChg chg="modSp mod modNotesTx">
        <pc:chgData name="Roshan Joji" userId="5ee500b96c2de4b0" providerId="LiveId" clId="{6C4B0894-A23A-47DD-9A4A-62AA2A482939}" dt="2026-06-01T13:58:14.251" v="106" actId="20577"/>
        <pc:sldMkLst>
          <pc:docMk/>
          <pc:sldMk cId="1472106130" sldId="270"/>
        </pc:sldMkLst>
        <pc:graphicFrameChg chg="mod modGraphic">
          <ac:chgData name="Roshan Joji" userId="5ee500b96c2de4b0" providerId="LiveId" clId="{6C4B0894-A23A-47DD-9A4A-62AA2A482939}" dt="2026-06-01T13:58:14.251" v="106" actId="20577"/>
          <ac:graphicFrameMkLst>
            <pc:docMk/>
            <pc:sldMk cId="1472106130" sldId="270"/>
            <ac:graphicFrameMk id="15" creationId="{A1876405-D8EB-A447-0384-9F564C8C9E75}"/>
          </ac:graphicFrameMkLst>
        </pc:graphicFrameChg>
      </pc:sldChg>
      <pc:sldChg chg="modNotesTx">
        <pc:chgData name="Roshan Joji" userId="5ee500b96c2de4b0" providerId="LiveId" clId="{6C4B0894-A23A-47DD-9A4A-62AA2A482939}" dt="2026-06-01T13:45:29.919" v="3" actId="5793"/>
        <pc:sldMkLst>
          <pc:docMk/>
          <pc:sldMk cId="2243494996" sldId="277"/>
        </pc:sldMkLst>
      </pc:sldChg>
      <pc:sldChg chg="modNotesTx">
        <pc:chgData name="Roshan Joji" userId="5ee500b96c2de4b0" providerId="LiveId" clId="{6C4B0894-A23A-47DD-9A4A-62AA2A482939}" dt="2026-06-01T13:45:47.998" v="11" actId="20577"/>
        <pc:sldMkLst>
          <pc:docMk/>
          <pc:sldMk cId="2069393026" sldId="278"/>
        </pc:sldMkLst>
      </pc:sldChg>
      <pc:sldChg chg="modNotesTx">
        <pc:chgData name="Roshan Joji" userId="5ee500b96c2de4b0" providerId="LiveId" clId="{6C4B0894-A23A-47DD-9A4A-62AA2A482939}" dt="2026-06-01T13:45:58.420" v="17" actId="5793"/>
        <pc:sldMkLst>
          <pc:docMk/>
          <pc:sldMk cId="1417396711" sldId="280"/>
        </pc:sldMkLst>
      </pc:sldChg>
      <pc:sldChg chg="modNotesTx">
        <pc:chgData name="Roshan Joji" userId="5ee500b96c2de4b0" providerId="LiveId" clId="{6C4B0894-A23A-47DD-9A4A-62AA2A482939}" dt="2026-06-01T13:45:40.442" v="8" actId="5793"/>
        <pc:sldMkLst>
          <pc:docMk/>
          <pc:sldMk cId="1844941827" sldId="289"/>
        </pc:sldMkLst>
      </pc:sldChg>
      <pc:sldChg chg="modNotesTx">
        <pc:chgData name="Roshan Joji" userId="5ee500b96c2de4b0" providerId="LiveId" clId="{6C4B0894-A23A-47DD-9A4A-62AA2A482939}" dt="2026-06-01T13:45:54.791" v="15" actId="5793"/>
        <pc:sldMkLst>
          <pc:docMk/>
          <pc:sldMk cId="2788543365" sldId="294"/>
        </pc:sldMkLst>
      </pc:sldChg>
      <pc:sldChg chg="modNotesTx">
        <pc:chgData name="Roshan Joji" userId="5ee500b96c2de4b0" providerId="LiveId" clId="{6C4B0894-A23A-47DD-9A4A-62AA2A482939}" dt="2026-06-01T13:46:07.783" v="23" actId="5793"/>
        <pc:sldMkLst>
          <pc:docMk/>
          <pc:sldMk cId="221153909" sldId="295"/>
        </pc:sldMkLst>
      </pc:sldChg>
      <pc:sldChg chg="modSp mod modNotesTx">
        <pc:chgData name="Roshan Joji" userId="5ee500b96c2de4b0" providerId="LiveId" clId="{6C4B0894-A23A-47DD-9A4A-62AA2A482939}" dt="2026-06-01T13:48:56.249" v="31" actId="14100"/>
        <pc:sldMkLst>
          <pc:docMk/>
          <pc:sldMk cId="3737623630" sldId="296"/>
        </pc:sldMkLst>
        <pc:picChg chg="mod">
          <ac:chgData name="Roshan Joji" userId="5ee500b96c2de4b0" providerId="LiveId" clId="{6C4B0894-A23A-47DD-9A4A-62AA2A482939}" dt="2026-06-01T13:47:40.501" v="29" actId="2085"/>
          <ac:picMkLst>
            <pc:docMk/>
            <pc:sldMk cId="3737623630" sldId="296"/>
            <ac:picMk id="7" creationId="{7BB0B36A-47A8-BD6B-575E-7E495A34162D}"/>
          </ac:picMkLst>
        </pc:picChg>
        <pc:cxnChg chg="mod">
          <ac:chgData name="Roshan Joji" userId="5ee500b96c2de4b0" providerId="LiveId" clId="{6C4B0894-A23A-47DD-9A4A-62AA2A482939}" dt="2026-06-01T13:48:56.249" v="31" actId="14100"/>
          <ac:cxnSpMkLst>
            <pc:docMk/>
            <pc:sldMk cId="3737623630" sldId="296"/>
            <ac:cxnSpMk id="9" creationId="{A0781655-F844-7CC3-3EA4-1B1D2BCD75EF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01/06/2026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913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85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065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078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318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97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875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B799-3E9D-5067-75FF-3C9106FC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E9DC8-29B4-B250-748D-956631716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9C210-8DE1-4645-ECB2-D491D955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D1E90-150E-7C2A-0452-3F72714D8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921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935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FCA-20BE-AB70-C243-3D444898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9471-55DA-3D30-0BB7-2F5899632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F7836-011E-3417-50DD-2E4EF0206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EE39-7D53-F647-9D62-B46CAD91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309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415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9501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2267" y="4464688"/>
            <a:ext cx="4941771" cy="1122202"/>
          </a:xfrm>
        </p:spPr>
        <p:txBody>
          <a:bodyPr rtlCol="0"/>
          <a:lstStyle/>
          <a:p>
            <a:pPr rtl="0"/>
            <a:r>
              <a:rPr lang="en-GB" b="1" dirty="0">
                <a:latin typeface="Arial Nova Cond Light" panose="020B0306020202020204" pitchFamily="34" charset="0"/>
              </a:rPr>
              <a:t>Investment Appraisal of Cement Mixer Hire Using Monte Carlo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267" y="5627081"/>
            <a:ext cx="5225851" cy="889411"/>
          </a:xfrm>
        </p:spPr>
        <p:txBody>
          <a:bodyPr rtlCol="0">
            <a:normAutofit/>
          </a:bodyPr>
          <a:lstStyle/>
          <a:p>
            <a:pPr rtl="0"/>
            <a:r>
              <a:rPr lang="en-GB" sz="1800" i="1" dirty="0"/>
              <a:t>Roshan Joji</a:t>
            </a:r>
          </a:p>
          <a:p>
            <a:pPr rtl="0"/>
            <a:r>
              <a:rPr lang="en-GB" sz="1800" i="1" dirty="0"/>
              <a:t>MATH525</a:t>
            </a:r>
          </a:p>
          <a:p>
            <a:pPr rtl="0"/>
            <a:endParaRPr lang="en-GB" i="1" dirty="0"/>
          </a:p>
          <a:p>
            <a:pPr rtl="0"/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136525"/>
            <a:ext cx="4062466" cy="1672513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Decision Context &amp;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2333626"/>
            <a:ext cx="4505029" cy="2806266"/>
          </a:xfrm>
        </p:spPr>
        <p:txBody>
          <a:bodyPr rtlCol="0">
            <a:norm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Purchase cement mixer at initial cost of £33,000.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Hire out at £150/day, for 2 years.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Sell at end of Year 2.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Decision required: should we pursue this investment opportunity?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9755"/>
            <a:ext cx="4082142" cy="585788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b="1" dirty="0"/>
              <a:t>Outcome Measure: Net Present Value (NPV)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rtl="0"/>
            <a:r>
              <a:rPr lang="en-GB" dirty="0"/>
              <a:t>Net present value (NPV)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n-GB" dirty="0"/>
              <a:t>What does it mean?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40258"/>
            <a:ext cx="2141764" cy="514350"/>
          </a:xfrm>
        </p:spPr>
        <p:txBody>
          <a:bodyPr rtlCol="0"/>
          <a:lstStyle/>
          <a:p>
            <a:pPr rtl="0"/>
            <a:r>
              <a:rPr lang="en-GB" dirty="0"/>
              <a:t>Units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06926"/>
            <a:ext cx="5539095" cy="1010842"/>
          </a:xfrm>
        </p:spPr>
        <p:txBody>
          <a:bodyPr rtlCol="0"/>
          <a:lstStyle/>
          <a:p>
            <a:pPr rtl="0"/>
            <a:r>
              <a:rPr lang="en-GB" dirty="0"/>
              <a:t>The </a:t>
            </a:r>
            <a:r>
              <a:rPr lang="en-GB" b="1" dirty="0"/>
              <a:t>present value </a:t>
            </a:r>
            <a:r>
              <a:rPr lang="en-GB" dirty="0"/>
              <a:t>equivalent of all cash inflows, minus all cash outflows, associated with an investment (Andersson, 2000).</a:t>
            </a:r>
          </a:p>
          <a:p>
            <a:pPr rtl="0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400944"/>
            <a:ext cx="5539095" cy="1010842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From an economic standpoint, if NPV &gt; 0, the investment creates value for the company and should be accepted. If NPV &lt; 0, the investment destroys value and should be rejected (Andersson, 2000).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634817"/>
            <a:ext cx="5539095" cy="1010842"/>
          </a:xfrm>
        </p:spPr>
        <p:txBody>
          <a:bodyPr rtlCol="0"/>
          <a:lstStyle/>
          <a:p>
            <a:pPr rtl="0"/>
            <a:r>
              <a:rPr lang="en-GB" dirty="0"/>
              <a:t>NPV can be used to determine wealth creation and value for a company and can be used to prioritize investments </a:t>
            </a:r>
            <a:r>
              <a:rPr lang="de-DE" dirty="0"/>
              <a:t>(C. Bertrand, 2013)</a:t>
            </a:r>
            <a:r>
              <a:rPr lang="en-GB" dirty="0"/>
              <a:t>.</a:t>
            </a:r>
          </a:p>
          <a:p>
            <a:pPr rtl="0"/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54574"/>
            <a:ext cx="5539095" cy="1010842"/>
          </a:xfrm>
        </p:spPr>
        <p:txBody>
          <a:bodyPr rtlCol="0"/>
          <a:lstStyle/>
          <a:p>
            <a:pPr rtl="0"/>
            <a:r>
              <a:rPr lang="en-GB" dirty="0"/>
              <a:t>NPV is measured in units of currency (in this case, £).</a:t>
            </a:r>
          </a:p>
          <a:p>
            <a:pPr rtl="0"/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80" name="Footer Placeholder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Key Uncertain Drivers of 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8658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GB" sz="2800" dirty="0"/>
              <a:t>Hire Days Per Year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865877"/>
          </a:xfrm>
        </p:spPr>
        <p:txBody>
          <a:bodyPr rtlCol="0">
            <a:normAutofit/>
          </a:bodyPr>
          <a:lstStyle/>
          <a:p>
            <a:pPr rtl="0"/>
            <a:r>
              <a:rPr lang="en-GB" sz="2800" dirty="0"/>
              <a:t>Maintenance Cost Y1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1116727"/>
          </a:xfrm>
        </p:spPr>
        <p:txBody>
          <a:bodyPr rtlCol="0">
            <a:normAutofit/>
          </a:bodyPr>
          <a:lstStyle/>
          <a:p>
            <a:r>
              <a:rPr lang="en-GB" sz="2800" dirty="0"/>
              <a:t>Maintenance Cost Y2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513826"/>
          </a:xfrm>
        </p:spPr>
        <p:txBody>
          <a:bodyPr rtlCol="0">
            <a:normAutofit/>
          </a:bodyPr>
          <a:lstStyle/>
          <a:p>
            <a:pPr rtl="0"/>
            <a:r>
              <a:rPr lang="en-GB" sz="2800" dirty="0"/>
              <a:t>Resale Value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7" y="4147415"/>
            <a:ext cx="3248765" cy="1908549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Assumed Probability Distributions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0F9EC8-0B93-1296-7AC6-2C8EBF351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813111"/>
              </p:ext>
            </p:extLst>
          </p:nvPr>
        </p:nvGraphicFramePr>
        <p:xfrm>
          <a:off x="4025302" y="552661"/>
          <a:ext cx="3695080" cy="2492673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88621954"/>
                    </a:ext>
                  </a:extLst>
                </a:gridCol>
                <a:gridCol w="1847540">
                  <a:extLst>
                    <a:ext uri="{9D8B030D-6E8A-4147-A177-3AD203B41FA5}">
                      <a16:colId xmlns:a16="http://schemas.microsoft.com/office/drawing/2014/main" val="1257035002"/>
                    </a:ext>
                  </a:extLst>
                </a:gridCol>
              </a:tblGrid>
              <a:tr h="617531">
                <a:tc>
                  <a:txBody>
                    <a:bodyPr/>
                    <a:lstStyle/>
                    <a:p>
                      <a:r>
                        <a:rPr lang="en-GB" b="0" dirty="0"/>
                        <a:t>Number of Hire Days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249158"/>
                  </a:ext>
                </a:extLst>
              </a:tr>
              <a:tr h="617531">
                <a:tc>
                  <a:txBody>
                    <a:bodyPr/>
                    <a:lstStyle/>
                    <a:p>
                      <a:r>
                        <a:rPr lang="en-GB" dirty="0"/>
                        <a:t>125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 (20%)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21739"/>
                  </a:ext>
                </a:extLst>
              </a:tr>
              <a:tr h="617531">
                <a:tc>
                  <a:txBody>
                    <a:bodyPr/>
                    <a:lstStyle/>
                    <a:p>
                      <a:r>
                        <a:rPr lang="en-GB" dirty="0"/>
                        <a:t>150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 (30%)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14462"/>
                  </a:ext>
                </a:extLst>
              </a:tr>
              <a:tr h="617531">
                <a:tc>
                  <a:txBody>
                    <a:bodyPr/>
                    <a:lstStyle/>
                    <a:p>
                      <a:r>
                        <a:rPr lang="en-GB" dirty="0"/>
                        <a:t>175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 (50%)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9152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139F01F-0E49-338A-5A65-2BF9508C4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306670"/>
              </p:ext>
            </p:extLst>
          </p:nvPr>
        </p:nvGraphicFramePr>
        <p:xfrm>
          <a:off x="8182707" y="549228"/>
          <a:ext cx="3695080" cy="2473557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88621954"/>
                    </a:ext>
                  </a:extLst>
                </a:gridCol>
                <a:gridCol w="1847540">
                  <a:extLst>
                    <a:ext uri="{9D8B030D-6E8A-4147-A177-3AD203B41FA5}">
                      <a16:colId xmlns:a16="http://schemas.microsoft.com/office/drawing/2014/main" val="1257035002"/>
                    </a:ext>
                  </a:extLst>
                </a:gridCol>
              </a:tblGrid>
              <a:tr h="611159">
                <a:tc>
                  <a:txBody>
                    <a:bodyPr/>
                    <a:lstStyle/>
                    <a:p>
                      <a:r>
                        <a:rPr lang="en-GB" b="0" dirty="0"/>
                        <a:t>Maintenance Cost 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249158"/>
                  </a:ext>
                </a:extLst>
              </a:tr>
              <a:tr h="611159">
                <a:tc>
                  <a:txBody>
                    <a:bodyPr/>
                    <a:lstStyle/>
                    <a:p>
                      <a:r>
                        <a:rPr lang="en-GB" dirty="0"/>
                        <a:t>£1200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 (40%)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21739"/>
                  </a:ext>
                </a:extLst>
              </a:tr>
              <a:tr h="611159">
                <a:tc>
                  <a:txBody>
                    <a:bodyPr/>
                    <a:lstStyle/>
                    <a:p>
                      <a:r>
                        <a:rPr lang="en-GB" dirty="0"/>
                        <a:t>£2500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 (50%)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14462"/>
                  </a:ext>
                </a:extLst>
              </a:tr>
              <a:tr h="611159">
                <a:tc>
                  <a:txBody>
                    <a:bodyPr/>
                    <a:lstStyle/>
                    <a:p>
                      <a:r>
                        <a:rPr lang="en-GB" dirty="0"/>
                        <a:t>£4000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 (10%)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9152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587CF91-80C1-6730-3024-A63A75F54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30946"/>
              </p:ext>
            </p:extLst>
          </p:nvPr>
        </p:nvGraphicFramePr>
        <p:xfrm>
          <a:off x="4025302" y="3582407"/>
          <a:ext cx="3695080" cy="2476989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88621954"/>
                    </a:ext>
                  </a:extLst>
                </a:gridCol>
                <a:gridCol w="1847540">
                  <a:extLst>
                    <a:ext uri="{9D8B030D-6E8A-4147-A177-3AD203B41FA5}">
                      <a16:colId xmlns:a16="http://schemas.microsoft.com/office/drawing/2014/main" val="1257035002"/>
                    </a:ext>
                  </a:extLst>
                </a:gridCol>
              </a:tblGrid>
              <a:tr h="640968">
                <a:tc>
                  <a:txBody>
                    <a:bodyPr/>
                    <a:lstStyle/>
                    <a:p>
                      <a:r>
                        <a:rPr lang="en-GB" b="0" dirty="0"/>
                        <a:t>Maintenance Cost 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249158"/>
                  </a:ext>
                </a:extLst>
              </a:tr>
              <a:tr h="612007">
                <a:tc>
                  <a:txBody>
                    <a:bodyPr/>
                    <a:lstStyle/>
                    <a:p>
                      <a:r>
                        <a:rPr lang="en-GB" dirty="0"/>
                        <a:t>£1200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 (20%)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21739"/>
                  </a:ext>
                </a:extLst>
              </a:tr>
              <a:tr h="612007">
                <a:tc>
                  <a:txBody>
                    <a:bodyPr/>
                    <a:lstStyle/>
                    <a:p>
                      <a:r>
                        <a:rPr lang="en-GB" dirty="0"/>
                        <a:t>£2500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 (60%)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14462"/>
                  </a:ext>
                </a:extLst>
              </a:tr>
              <a:tr h="612007">
                <a:tc>
                  <a:txBody>
                    <a:bodyPr/>
                    <a:lstStyle/>
                    <a:p>
                      <a:r>
                        <a:rPr lang="en-GB" dirty="0"/>
                        <a:t>£4000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 (20%)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915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D60893E-C647-728A-63AA-2031E4B19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98702"/>
              </p:ext>
            </p:extLst>
          </p:nvPr>
        </p:nvGraphicFramePr>
        <p:xfrm>
          <a:off x="8182707" y="3582407"/>
          <a:ext cx="3695080" cy="2473557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88621954"/>
                    </a:ext>
                  </a:extLst>
                </a:gridCol>
                <a:gridCol w="1847540">
                  <a:extLst>
                    <a:ext uri="{9D8B030D-6E8A-4147-A177-3AD203B41FA5}">
                      <a16:colId xmlns:a16="http://schemas.microsoft.com/office/drawing/2014/main" val="1257035002"/>
                    </a:ext>
                  </a:extLst>
                </a:gridCol>
              </a:tblGrid>
              <a:tr h="824519">
                <a:tc>
                  <a:txBody>
                    <a:bodyPr/>
                    <a:lstStyle/>
                    <a:p>
                      <a:r>
                        <a:rPr lang="en-GB" b="0" dirty="0"/>
                        <a:t>Resale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249158"/>
                  </a:ext>
                </a:extLst>
              </a:tr>
              <a:tr h="824519">
                <a:tc>
                  <a:txBody>
                    <a:bodyPr/>
                    <a:lstStyle/>
                    <a:p>
                      <a:r>
                        <a:rPr lang="en-GB" dirty="0"/>
                        <a:t>£5000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 (70%)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21739"/>
                  </a:ext>
                </a:extLst>
              </a:tr>
              <a:tr h="824519">
                <a:tc>
                  <a:txBody>
                    <a:bodyPr/>
                    <a:lstStyle/>
                    <a:p>
                      <a:r>
                        <a:rPr lang="en-GB" dirty="0"/>
                        <a:t>£7000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 (30%)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144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3490ECF-4BDA-6D04-5980-CC93D880504B}"/>
              </a:ext>
            </a:extLst>
          </p:cNvPr>
          <p:cNvSpPr txBox="1"/>
          <p:nvPr/>
        </p:nvSpPr>
        <p:spPr>
          <a:xfrm>
            <a:off x="8182707" y="6062571"/>
            <a:ext cx="4985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Management-estimated discrete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850" y="-94748"/>
            <a:ext cx="5597420" cy="1204912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Outcome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3634FE-ADF0-4BC3-A0A9-447EA9DD09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61381" y="1830609"/>
                <a:ext cx="6530307" cy="107608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rtl="0"/>
                <a:r>
                  <a:rPr lang="en-GB" sz="2000" b="1" noProof="1"/>
                  <a:t>NPV 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  <m:r>
                            <a:rPr lang="en-GB" sz="1800" b="0" i="1" baseline="-25000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1.15</m:t>
                          </m:r>
                        </m:den>
                      </m:f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0" noProof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 noProof="1">
                              <a:latin typeface="Cambria Math" panose="02040503050406030204" pitchFamily="18" charset="0"/>
                            </a:rPr>
                            <m:t>𝐶𝐹</m:t>
                          </m:r>
                          <m:r>
                            <a:rPr lang="en-GB" sz="1800" b="0" i="1" baseline="-25000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1.15</m:t>
                          </m:r>
                          <m:r>
                            <a:rPr lang="en-GB" sz="1800" b="0" i="1" baseline="30000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800" b="0" i="1" baseline="30000" noProof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−33,000 </m:t>
                      </m:r>
                    </m:oMath>
                  </m:oMathPara>
                </a14:m>
                <a:endParaRPr lang="en-GB" sz="1800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3634FE-ADF0-4BC3-A0A9-447EA9DD0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1381" y="1830609"/>
                <a:ext cx="6530307" cy="1076081"/>
              </a:xfrm>
              <a:blipFill>
                <a:blip r:embed="rId3"/>
                <a:stretch>
                  <a:fillRect l="-933" t="-2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D9FF8A-E1A8-A922-8C17-E95E9BD541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0118" y="4347580"/>
                <a:ext cx="5597420" cy="13321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b="1" noProof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en-GB" sz="1800" b="0" i="1" baseline="-25000" noProof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𝐷𝑎𝑦𝑠</m:t>
                          </m:r>
                          <m:r>
                            <a:rPr lang="en-GB" sz="1800" b="0" i="1" baseline="-25000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×150</m:t>
                          </m:r>
                        </m:e>
                      </m:d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𝑀𝑎𝑖𝑛𝑡</m:t>
                      </m:r>
                      <m:r>
                        <a:rPr lang="en-GB" sz="1800" b="0" i="1" baseline="-25000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800" b="0" baseline="-25000" noProof="1">
                  <a:ea typeface="Cambria Math" panose="02040503050406030204" pitchFamily="18" charset="0"/>
                </a:endParaRPr>
              </a:p>
              <a:p>
                <a:r>
                  <a:rPr lang="en-GB" sz="1800" i="1" baseline="-25000" noProof="1">
                    <a:latin typeface="Cambria Math" panose="02040503050406030204" pitchFamily="18" charset="0"/>
                  </a:rPr>
                  <a:t>		</a:t>
                </a:r>
                <a:endParaRPr lang="en-GB" sz="1800" b="0" i="1" noProof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en-GB" sz="1800" b="0" i="1" baseline="-25000" noProof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𝐷𝑎𝑦𝑠</m:t>
                          </m:r>
                          <m:r>
                            <a:rPr lang="en-GB" sz="1800" b="0" i="1" baseline="-25000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8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×150</m:t>
                          </m:r>
                        </m:e>
                      </m:d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𝑀𝑎𝑖𝑛𝑡</m:t>
                      </m:r>
                      <m:r>
                        <a:rPr lang="en-GB" sz="1800" b="0" i="1" baseline="-25000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18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𝑅𝑒𝑠𝑎𝑙𝑒</m:t>
                      </m:r>
                    </m:oMath>
                  </m:oMathPara>
                </a14:m>
                <a:endParaRPr lang="en-GB" sz="1800" noProof="1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D9FF8A-E1A8-A922-8C17-E95E9BD54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118" y="4347580"/>
                <a:ext cx="5597420" cy="1332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3EC260-2181-4C2E-B3EB-B9E453C073A1}"/>
              </a:ext>
            </a:extLst>
          </p:cNvPr>
          <p:cNvSpPr txBox="1">
            <a:spLocks/>
          </p:cNvSpPr>
          <p:nvPr/>
        </p:nvSpPr>
        <p:spPr>
          <a:xfrm>
            <a:off x="361381" y="3878508"/>
            <a:ext cx="5111750" cy="429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noProof="1"/>
              <a:t>Cash Flow Formulas: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EA48E-88C0-2BB7-E089-4D8E6E3E279B}"/>
              </a:ext>
            </a:extLst>
          </p:cNvPr>
          <p:cNvSpPr txBox="1"/>
          <p:nvPr/>
        </p:nvSpPr>
        <p:spPr>
          <a:xfrm>
            <a:off x="10267173" y="2214760"/>
            <a:ext cx="217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(Andersson, 2000)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0287358-7C79-BA6A-A63D-324D20B3EACE}"/>
              </a:ext>
            </a:extLst>
          </p:cNvPr>
          <p:cNvCxnSpPr>
            <a:cxnSpLocks/>
          </p:cNvCxnSpPr>
          <p:nvPr/>
        </p:nvCxnSpPr>
        <p:spPr>
          <a:xfrm>
            <a:off x="3756627" y="2831394"/>
            <a:ext cx="772511" cy="671425"/>
          </a:xfrm>
          <a:prstGeom prst="bentConnector3">
            <a:avLst>
              <a:gd name="adj1" fmla="val -2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C11880-2309-F850-C991-4945A88B440C}"/>
              </a:ext>
            </a:extLst>
          </p:cNvPr>
          <p:cNvSpPr txBox="1"/>
          <p:nvPr/>
        </p:nvSpPr>
        <p:spPr>
          <a:xfrm>
            <a:off x="4653949" y="3348930"/>
            <a:ext cx="2556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Assumed discount rate of 15%.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455" y="253450"/>
            <a:ext cx="4052093" cy="1151839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Why use a simulation?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92548" y="1983443"/>
            <a:ext cx="6759103" cy="4226832"/>
          </a:xfrm>
        </p:spPr>
        <p:txBody>
          <a:bodyPr rtlCol="0">
            <a:normAutofit lnSpcReduction="10000"/>
          </a:bodyPr>
          <a:lstStyle/>
          <a:p>
            <a:pPr marL="285750" indent="-285750" rtl="0">
              <a:buFontTx/>
              <a:buChar char="-"/>
            </a:pPr>
            <a:r>
              <a:rPr lang="en-GB" sz="2400" noProof="1"/>
              <a:t>Multiple uncertain input variables with known probabilities</a:t>
            </a:r>
          </a:p>
          <a:p>
            <a:pPr marL="285750" indent="-285750" rtl="0">
              <a:buFontTx/>
              <a:buChar char="-"/>
            </a:pPr>
            <a:endParaRPr lang="en-GB" sz="2400" noProof="1"/>
          </a:p>
          <a:p>
            <a:pPr marL="285750" indent="-285750" rtl="0">
              <a:buFontTx/>
              <a:buChar char="-"/>
            </a:pPr>
            <a:r>
              <a:rPr lang="en-GB" sz="2400" noProof="1"/>
              <a:t>Discrete, non-normal outcome distributions</a:t>
            </a:r>
          </a:p>
          <a:p>
            <a:pPr marL="285750" indent="-285750" rtl="0">
              <a:buFontTx/>
              <a:buChar char="-"/>
            </a:pPr>
            <a:endParaRPr lang="en-GB" sz="2400" noProof="1"/>
          </a:p>
          <a:p>
            <a:pPr marL="285750" indent="-285750" rtl="0">
              <a:buFontTx/>
              <a:buChar char="-"/>
            </a:pPr>
            <a:r>
              <a:rPr lang="en-GB" sz="2400" noProof="1"/>
              <a:t>Management interest in </a:t>
            </a:r>
            <a:r>
              <a:rPr lang="en-GB" sz="2400" b="1" noProof="1"/>
              <a:t>risk</a:t>
            </a:r>
            <a:r>
              <a:rPr lang="en-GB" sz="2400" noProof="1"/>
              <a:t> as well as </a:t>
            </a:r>
            <a:r>
              <a:rPr lang="en-GB" sz="2400" b="1" noProof="1"/>
              <a:t>expected return</a:t>
            </a:r>
          </a:p>
          <a:p>
            <a:pPr marL="285750" indent="-285750" rtl="0">
              <a:buFontTx/>
              <a:buChar char="-"/>
            </a:pPr>
            <a:endParaRPr lang="en-GB" sz="2400" noProof="1"/>
          </a:p>
          <a:p>
            <a:pPr marL="285750" indent="-285750" rtl="0">
              <a:buFontTx/>
              <a:buChar char="-"/>
            </a:pPr>
            <a:r>
              <a:rPr lang="en-GB" sz="2400" noProof="1"/>
              <a:t>Analytical solution possible but impractical and less precise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485" y="-235626"/>
            <a:ext cx="8421688" cy="1325563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Simulation set-up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5225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8</a:t>
            </a:fld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82666E-B863-A65B-4FFD-7A0BDE68A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7" y="738306"/>
            <a:ext cx="8568082" cy="499574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1AEF8FB-B7A3-6FD1-CDD7-DEAC3406DE30}"/>
              </a:ext>
            </a:extLst>
          </p:cNvPr>
          <p:cNvSpPr/>
          <p:nvPr/>
        </p:nvSpPr>
        <p:spPr>
          <a:xfrm>
            <a:off x="189826" y="3898900"/>
            <a:ext cx="4886998" cy="1333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EC8BC5-532E-84FA-FA66-C68FDDE03D52}"/>
              </a:ext>
            </a:extLst>
          </p:cNvPr>
          <p:cNvSpPr txBox="1"/>
          <p:nvPr/>
        </p:nvSpPr>
        <p:spPr>
          <a:xfrm>
            <a:off x="9179590" y="2566978"/>
            <a:ext cx="2590161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Each row (iteration) is one possible future scenario within the simulation.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1BCC07CF-B526-EA18-2206-502BCC5CEE1E}"/>
              </a:ext>
            </a:extLst>
          </p:cNvPr>
          <p:cNvSpPr/>
          <p:nvPr/>
        </p:nvSpPr>
        <p:spPr>
          <a:xfrm rot="16200000">
            <a:off x="4245099" y="1676264"/>
            <a:ext cx="436781" cy="8588840"/>
          </a:xfrm>
          <a:prstGeom prst="leftBrace">
            <a:avLst>
              <a:gd name="adj1" fmla="val 101606"/>
              <a:gd name="adj2" fmla="val 4902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D7AE1-955A-8786-BBC4-1748E60A6C8C}"/>
              </a:ext>
            </a:extLst>
          </p:cNvPr>
          <p:cNvSpPr txBox="1"/>
          <p:nvPr/>
        </p:nvSpPr>
        <p:spPr>
          <a:xfrm>
            <a:off x="1909565" y="6163238"/>
            <a:ext cx="5091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This simulation was performed with 15,000 independent iterations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DABC7B-7AD6-9722-E156-E9C25A28BBB9}"/>
              </a:ext>
            </a:extLst>
          </p:cNvPr>
          <p:cNvSpPr/>
          <p:nvPr/>
        </p:nvSpPr>
        <p:spPr>
          <a:xfrm>
            <a:off x="6400800" y="1776414"/>
            <a:ext cx="2357109" cy="395763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AEACB8-59AA-3F1A-DD76-82A757CD369A}"/>
              </a:ext>
            </a:extLst>
          </p:cNvPr>
          <p:cNvSpPr txBox="1"/>
          <p:nvPr/>
        </p:nvSpPr>
        <p:spPr>
          <a:xfrm>
            <a:off x="9179591" y="4903052"/>
            <a:ext cx="2590160" cy="83099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The simulation was performed using a random sampling method.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8E957A-5971-C2DC-C5B9-F995B87A6356}"/>
              </a:ext>
            </a:extLst>
          </p:cNvPr>
          <p:cNvSpPr/>
          <p:nvPr/>
        </p:nvSpPr>
        <p:spPr>
          <a:xfrm>
            <a:off x="3586887" y="1776413"/>
            <a:ext cx="1489938" cy="278606"/>
          </a:xfrm>
          <a:prstGeom prst="rect">
            <a:avLst/>
          </a:prstGeom>
          <a:noFill/>
          <a:ln w="28575">
            <a:solidFill>
              <a:srgbClr val="BA77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094206-4EB4-F74B-90F0-4C9EC9359CD6}"/>
              </a:ext>
            </a:extLst>
          </p:cNvPr>
          <p:cNvSpPr txBox="1"/>
          <p:nvPr/>
        </p:nvSpPr>
        <p:spPr>
          <a:xfrm>
            <a:off x="9179590" y="3736674"/>
            <a:ext cx="2590163" cy="830997"/>
          </a:xfrm>
          <a:prstGeom prst="rect">
            <a:avLst/>
          </a:prstGeom>
          <a:noFill/>
          <a:ln w="28575">
            <a:solidFill>
              <a:srgbClr val="BA77F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Cash flow and NPV values were calculated using the model equations.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96FEC-E089-AFBE-58AA-CB6D97236BA2}"/>
              </a:ext>
            </a:extLst>
          </p:cNvPr>
          <p:cNvSpPr txBox="1"/>
          <p:nvPr/>
        </p:nvSpPr>
        <p:spPr>
          <a:xfrm>
            <a:off x="9179590" y="1643504"/>
            <a:ext cx="2590161" cy="5847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Constants used within the simulation.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F42DA9-6D7B-8312-5F3E-D9C49EFE31BD}"/>
              </a:ext>
            </a:extLst>
          </p:cNvPr>
          <p:cNvSpPr/>
          <p:nvPr/>
        </p:nvSpPr>
        <p:spPr>
          <a:xfrm>
            <a:off x="169069" y="738305"/>
            <a:ext cx="1132681" cy="7880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D301-F5EF-824D-94E1-0D0AAF31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F4BA-C516-F98B-B677-F5AF5DA1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7" y="-174067"/>
            <a:ext cx="8421688" cy="1325563"/>
          </a:xfrm>
        </p:spPr>
        <p:txBody>
          <a:bodyPr rtlCol="0">
            <a:normAutofit/>
          </a:bodyPr>
          <a:lstStyle/>
          <a:p>
            <a:r>
              <a:rPr lang="en-GB" sz="3200" b="1" dirty="0"/>
              <a:t>Simulation Logic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D865B2C-68FB-610E-DDF1-011288BE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5225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4D86651-9312-839B-E05D-D68E9564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DFD8CAA-E27A-CC7A-5C2B-4955437F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9</a:t>
            </a:fld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1D437F-3584-E303-81B3-0DAD3562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48" b="52235"/>
          <a:stretch>
            <a:fillRect/>
          </a:stretch>
        </p:blipFill>
        <p:spPr>
          <a:xfrm>
            <a:off x="1309689" y="1472655"/>
            <a:ext cx="10149422" cy="18967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7AD2F3-FB6A-0011-574B-7481B364994C}"/>
              </a:ext>
            </a:extLst>
          </p:cNvPr>
          <p:cNvSpPr txBox="1"/>
          <p:nvPr/>
        </p:nvSpPr>
        <p:spPr>
          <a:xfrm>
            <a:off x="7239000" y="4815676"/>
            <a:ext cx="4953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B0F0"/>
                </a:solidFill>
              </a:rPr>
              <a:t>Hire Days Y1</a:t>
            </a:r>
            <a:r>
              <a:rPr lang="en-GB" sz="2400" b="1" dirty="0"/>
              <a:t>: Mapping random draw to outcome</a:t>
            </a:r>
          </a:p>
          <a:p>
            <a:endParaRPr lang="en-GB" dirty="0"/>
          </a:p>
          <a:p>
            <a:r>
              <a:rPr lang="en-GB" sz="2000" dirty="0"/>
              <a:t>=IF(</a:t>
            </a:r>
            <a:r>
              <a:rPr lang="en-GB" sz="2000" dirty="0">
                <a:solidFill>
                  <a:srgbClr val="FF0000"/>
                </a:solidFill>
              </a:rPr>
              <a:t>M8</a:t>
            </a:r>
            <a:r>
              <a:rPr lang="en-GB" sz="2000" dirty="0"/>
              <a:t>&lt;0.2,125,IF(</a:t>
            </a:r>
            <a:r>
              <a:rPr lang="en-GB" sz="2000" dirty="0">
                <a:solidFill>
                  <a:srgbClr val="FF0000"/>
                </a:solidFill>
              </a:rPr>
              <a:t>M8</a:t>
            </a:r>
            <a:r>
              <a:rPr lang="en-GB" sz="2000" dirty="0"/>
              <a:t>&lt;0.5,150,175))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3CCD4-D72C-EDEF-44C9-89CF97C52B31}"/>
              </a:ext>
            </a:extLst>
          </p:cNvPr>
          <p:cNvSpPr txBox="1"/>
          <p:nvPr/>
        </p:nvSpPr>
        <p:spPr>
          <a:xfrm>
            <a:off x="301172" y="3617337"/>
            <a:ext cx="53209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One random draw per uncertain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Probabilities implemented via cumulative thresholds.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Same sampling logic applied independently in each iteration.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5A6BA3-1403-57C0-A52A-4199C7C87303}"/>
              </a:ext>
            </a:extLst>
          </p:cNvPr>
          <p:cNvSpPr/>
          <p:nvPr/>
        </p:nvSpPr>
        <p:spPr>
          <a:xfrm>
            <a:off x="8677274" y="1859588"/>
            <a:ext cx="507248" cy="180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6D5ED-B9F6-9BEF-D5CD-2C4FEB9386EB}"/>
              </a:ext>
            </a:extLst>
          </p:cNvPr>
          <p:cNvSpPr/>
          <p:nvPr/>
        </p:nvSpPr>
        <p:spPr>
          <a:xfrm>
            <a:off x="2093118" y="1859587"/>
            <a:ext cx="530268" cy="1809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94419ED-F94A-A9E0-2421-C33967494971}"/>
              </a:ext>
            </a:extLst>
          </p:cNvPr>
          <p:cNvSpPr/>
          <p:nvPr/>
        </p:nvSpPr>
        <p:spPr>
          <a:xfrm rot="16200000">
            <a:off x="9840979" y="2226418"/>
            <a:ext cx="436781" cy="2781837"/>
          </a:xfrm>
          <a:prstGeom prst="leftBrace">
            <a:avLst>
              <a:gd name="adj1" fmla="val 101606"/>
              <a:gd name="adj2" fmla="val 4902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E6CEF-222D-E7E9-05D9-2B3C54347FAD}"/>
              </a:ext>
            </a:extLst>
          </p:cNvPr>
          <p:cNvSpPr txBox="1"/>
          <p:nvPr/>
        </p:nvSpPr>
        <p:spPr>
          <a:xfrm>
            <a:off x="8677274" y="3865287"/>
            <a:ext cx="29432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Uniform(0 , 1) random draws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8854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2" y="4850882"/>
            <a:ext cx="2851485" cy="1325563"/>
          </a:xfrm>
        </p:spPr>
        <p:txBody>
          <a:bodyPr rtlCol="0">
            <a:noAutofit/>
          </a:bodyPr>
          <a:lstStyle/>
          <a:p>
            <a:pPr rtl="0"/>
            <a:r>
              <a:rPr lang="en-GB" sz="3200" b="1" dirty="0"/>
              <a:t>Simulation Results: Summary Statistics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10</a:t>
            </a:fld>
            <a:endParaRPr lang="en-GB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9D7863-80E6-3E76-3725-DEE0F8577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21897"/>
              </p:ext>
            </p:extLst>
          </p:nvPr>
        </p:nvGraphicFramePr>
        <p:xfrm>
          <a:off x="5227979" y="870294"/>
          <a:ext cx="6206832" cy="4798987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068944">
                  <a:extLst>
                    <a:ext uri="{9D8B030D-6E8A-4147-A177-3AD203B41FA5}">
                      <a16:colId xmlns:a16="http://schemas.microsoft.com/office/drawing/2014/main" val="2088621954"/>
                    </a:ext>
                  </a:extLst>
                </a:gridCol>
                <a:gridCol w="2068944">
                  <a:extLst>
                    <a:ext uri="{9D8B030D-6E8A-4147-A177-3AD203B41FA5}">
                      <a16:colId xmlns:a16="http://schemas.microsoft.com/office/drawing/2014/main" val="1257035002"/>
                    </a:ext>
                  </a:extLst>
                </a:gridCol>
                <a:gridCol w="2068944">
                  <a:extLst>
                    <a:ext uri="{9D8B030D-6E8A-4147-A177-3AD203B41FA5}">
                      <a16:colId xmlns:a16="http://schemas.microsoft.com/office/drawing/2014/main" val="3759243562"/>
                    </a:ext>
                  </a:extLst>
                </a:gridCol>
              </a:tblGrid>
              <a:tr h="776212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49158"/>
                  </a:ext>
                </a:extLst>
              </a:tr>
              <a:tr h="80455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 NPV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£5,900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Expected Value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421739"/>
                  </a:ext>
                </a:extLst>
              </a:tr>
              <a:tr h="80455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Median NPV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£6,130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“Typical”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314462"/>
                  </a:ext>
                </a:extLst>
              </a:tr>
              <a:tr h="80455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Probability of NPV &lt;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0.06 (6%)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Risk of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09152"/>
                  </a:ext>
                </a:extLst>
              </a:tr>
              <a:tr h="80455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  <a:r>
                        <a:rPr lang="en-GB" baseline="30000" dirty="0"/>
                        <a:t>th</a:t>
                      </a:r>
                      <a:r>
                        <a:rPr lang="en-GB" dirty="0"/>
                        <a:t> Percentile NPV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-£675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Downside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173068"/>
                  </a:ext>
                </a:extLst>
              </a:tr>
              <a:tr h="80455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95</a:t>
                      </a:r>
                      <a:r>
                        <a:rPr lang="en-GB" baseline="30000" dirty="0"/>
                        <a:t>th</a:t>
                      </a:r>
                      <a:r>
                        <a:rPr lang="en-GB" dirty="0"/>
                        <a:t> Percentile NPV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£10,904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Upside Potential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0456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F82BBFE1-52B2-7121-29F9-82545B655F9C}"/>
              </a:ext>
            </a:extLst>
          </p:cNvPr>
          <p:cNvSpPr txBox="1"/>
          <p:nvPr/>
        </p:nvSpPr>
        <p:spPr>
          <a:xfrm>
            <a:off x="7700210" y="5705038"/>
            <a:ext cx="4985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Based on 15,000 iterations (15% discount rate)</a:t>
            </a:r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F8C6-8096-7095-9D3B-D206E534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1CEE-EC24-779F-AC00-87E37C78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1" y="4937509"/>
            <a:ext cx="2851485" cy="1325563"/>
          </a:xfrm>
        </p:spPr>
        <p:txBody>
          <a:bodyPr rtlCol="0">
            <a:noAutofit/>
          </a:bodyPr>
          <a:lstStyle/>
          <a:p>
            <a:pPr rtl="0"/>
            <a:r>
              <a:rPr lang="en-GB" sz="3200" b="1" dirty="0"/>
              <a:t>Simulation Results: Histogram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177B7E68-349C-742A-0BB2-60BD84E179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E10F6-3CA4-793D-FC2D-96EB3C36DF5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E3DC9-D757-16F1-13C8-CA6DB405F3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0B36A-47A8-BD6B-575E-7E495A341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59" y="641982"/>
            <a:ext cx="8663167" cy="5675868"/>
          </a:xfrm>
          <a:prstGeom prst="rect">
            <a:avLst/>
          </a:prstGeom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81655-F844-7CC3-3EA4-1B1D2BCD75EF}"/>
              </a:ext>
            </a:extLst>
          </p:cNvPr>
          <p:cNvCxnSpPr>
            <a:cxnSpLocks/>
          </p:cNvCxnSpPr>
          <p:nvPr/>
        </p:nvCxnSpPr>
        <p:spPr>
          <a:xfrm>
            <a:off x="6171403" y="964642"/>
            <a:ext cx="0" cy="426458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623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825" y="466327"/>
            <a:ext cx="8837997" cy="1325563"/>
          </a:xfrm>
        </p:spPr>
        <p:txBody>
          <a:bodyPr rtlCol="0">
            <a:normAutofit/>
          </a:bodyPr>
          <a:lstStyle/>
          <a:p>
            <a:pPr rtl="0"/>
            <a:r>
              <a:rPr lang="en-GB" sz="3200" b="1" dirty="0"/>
              <a:t>Analytical Alternative to Simulation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dirty="0"/>
              <a:t>Investment Appraisal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1876405-D8EB-A447-0384-9F564C8C9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58575"/>
              </p:ext>
            </p:extLst>
          </p:nvPr>
        </p:nvGraphicFramePr>
        <p:xfrm>
          <a:off x="2319688" y="2209976"/>
          <a:ext cx="9096140" cy="378256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548070">
                  <a:extLst>
                    <a:ext uri="{9D8B030D-6E8A-4147-A177-3AD203B41FA5}">
                      <a16:colId xmlns:a16="http://schemas.microsoft.com/office/drawing/2014/main" val="748798239"/>
                    </a:ext>
                  </a:extLst>
                </a:gridCol>
                <a:gridCol w="4548070">
                  <a:extLst>
                    <a:ext uri="{9D8B030D-6E8A-4147-A177-3AD203B41FA5}">
                      <a16:colId xmlns:a16="http://schemas.microsoft.com/office/drawing/2014/main" val="1243931843"/>
                    </a:ext>
                  </a:extLst>
                </a:gridCol>
              </a:tblGrid>
              <a:tr h="695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2800" b="1" u="none" strike="noStrike" kern="1200" cap="none" spc="15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Analytical Approach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2800" b="1" u="none" strike="noStrike" kern="1200" cap="none" spc="15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Simulation Approach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88565"/>
                  </a:ext>
                </a:extLst>
              </a:tr>
              <a:tr h="281216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Replace uncertain inputs with expected values (probability-weighted averages).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Calculate a single NPV.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Simpler and faster to achieve.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Impractical when such large numbers of potential outcomes </a:t>
                      </a:r>
                      <a:r>
                        <a:rPr kumimoji="0" lang="en-GB" sz="2100" b="0" u="none" strike="noStrike" kern="1200" cap="none" spc="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exist.</a:t>
                      </a:r>
                      <a:endParaRPr kumimoji="0" lang="en-GB" sz="2100" b="0" u="none" strike="noStrike" kern="1200" cap="none" spc="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Explicitly models uncertainty.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Produces a distribution of NPVs.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Quantifies downside risk and upside potential.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2100" b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More informative for decision-making.</a:t>
                      </a:r>
                    </a:p>
                    <a:p>
                      <a:endParaRPr lang="en-GB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4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A0D18CE-7347-4722-15B0-D0E203EC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211" y="-38158"/>
            <a:ext cx="5111750" cy="1204912"/>
          </a:xfrm>
        </p:spPr>
        <p:txBody>
          <a:bodyPr>
            <a:normAutofit/>
          </a:bodyPr>
          <a:lstStyle/>
          <a:p>
            <a:r>
              <a:rPr lang="en-GB" sz="3200" b="1" dirty="0"/>
              <a:t>Final Recommendation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21A706-1751-094E-BC8B-30DAB86C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014" y="2734208"/>
            <a:ext cx="6422056" cy="30993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Positive expected NPV (£5.9k at 15% discount rate).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High likelihood of value creation (94% of simulation outcomes positive).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Limited downside risk (5</a:t>
            </a:r>
            <a:r>
              <a:rPr lang="en-GB" sz="2000" baseline="30000" dirty="0"/>
              <a:t>th</a:t>
            </a:r>
            <a:r>
              <a:rPr lang="en-GB" sz="2000" dirty="0"/>
              <a:t> percentile NPV = -£675).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Meaningful upside potential (95</a:t>
            </a:r>
            <a:r>
              <a:rPr lang="en-GB" sz="2000" baseline="30000" dirty="0"/>
              <a:t>th</a:t>
            </a:r>
            <a:r>
              <a:rPr lang="en-GB" sz="2000" dirty="0"/>
              <a:t> percentile NPV = £10.9k).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Short two-year timespan and resale value provide additional downside protection.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DE54-0A0E-CBD3-EC49-000E1432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93B6F-30D6-8838-0036-51653152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Investment Appraisal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D5B02-7096-CFCC-E91C-4A0FEBD9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926E86DB-A759-6ADF-AA83-D818B1C1F684}"/>
              </a:ext>
            </a:extLst>
          </p:cNvPr>
          <p:cNvSpPr txBox="1">
            <a:spLocks/>
          </p:cNvSpPr>
          <p:nvPr/>
        </p:nvSpPr>
        <p:spPr>
          <a:xfrm>
            <a:off x="5376512" y="1642473"/>
            <a:ext cx="6712819" cy="587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i="1" dirty="0"/>
              <a:t>Proceed with the investment</a:t>
            </a:r>
          </a:p>
        </p:txBody>
      </p:sp>
    </p:spTree>
    <p:extLst>
      <p:ext uri="{BB962C8B-B14F-4D97-AF65-F5344CB8AC3E}">
        <p14:creationId xmlns:p14="http://schemas.microsoft.com/office/powerpoint/2010/main" val="221153909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purl.org/dc/terms/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14670</TotalTime>
  <Words>718</Words>
  <Application>Microsoft Office PowerPoint</Application>
  <PresentationFormat>Widescreen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Nova Cond Light</vt:lpstr>
      <vt:lpstr>Calibri</vt:lpstr>
      <vt:lpstr>Cambria Math</vt:lpstr>
      <vt:lpstr>Tenorite</vt:lpstr>
      <vt:lpstr>Monoline</vt:lpstr>
      <vt:lpstr>Investment Appraisal of Cement Mixer Hire Using Monte Carlo Simulation</vt:lpstr>
      <vt:lpstr>Decision Context &amp; Objective</vt:lpstr>
      <vt:lpstr>Outcome Measure: Net Present Value (NPV)</vt:lpstr>
      <vt:lpstr>Key Uncertain Drivers of NPV</vt:lpstr>
      <vt:lpstr>Assumed Probability Distributions</vt:lpstr>
      <vt:lpstr>Outcome Formulation</vt:lpstr>
      <vt:lpstr>Why use a simulation?</vt:lpstr>
      <vt:lpstr>Simulation set-up</vt:lpstr>
      <vt:lpstr>Simulation Logic</vt:lpstr>
      <vt:lpstr>Simulation Results: Summary Statistics</vt:lpstr>
      <vt:lpstr>Simulation Results: Histogram</vt:lpstr>
      <vt:lpstr>Analytical Alternative to Simulation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Roshan Joji</dc:creator>
  <cp:lastModifiedBy>Roshan Joji</cp:lastModifiedBy>
  <cp:revision>1</cp:revision>
  <dcterms:created xsi:type="dcterms:W3CDTF">2025-12-24T20:06:46Z</dcterms:created>
  <dcterms:modified xsi:type="dcterms:W3CDTF">2026-06-01T13:58:23Z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